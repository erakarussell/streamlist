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41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EZTechMovie | StreamList Program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6492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INT499 Capstone for Information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rlestrayesjr/streamlis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rakarussell/streaml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5156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508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EZTechMovie StreamList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1488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Week 2 Program Design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97280" y="26883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467"/>
                </a:solidFill>
              </a:rPr>
              <a:t>Gantt Chart and Application Wireframes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33375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16352" y="340156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Movie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333756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07992" y="3401568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Streaming Availability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33375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48272" y="340156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Watchlist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33375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48472" y="340156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Subscription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069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2939"/>
                </a:solidFill>
              </a:rPr>
              <a:t>Charles Trayes Jr.  |  Eraka Russell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45262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467"/>
                </a:solidFill>
              </a:rPr>
              <a:t>The University of Arizona Global Campus  |  August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5047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467"/>
                </a:solidFill>
              </a:rPr>
              <a:t>Goal: turn the original StreamList concept into an all-in-one monthly movie discovery and streaming access service.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Gantt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Tasks come directly from the SRS and are sequenced by dependency. Some work can run in parallel.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7947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426464"/>
            <a:ext cx="35753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/ estimate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12801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07408" y="1426464"/>
            <a:ext cx="1060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12801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87568" y="1426464"/>
            <a:ext cx="1060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325880"/>
            <a:ext cx="12801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67728" y="1426464"/>
            <a:ext cx="1060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12801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7888" y="1426464"/>
            <a:ext cx="1060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18320" y="1325880"/>
            <a:ext cx="1280160" cy="438912"/>
          </a:xfrm>
          <a:prstGeom prst="roundRect">
            <a:avLst>
              <a:gd name="adj" fmla="val 8333"/>
            </a:avLst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8048" y="1426464"/>
            <a:ext cx="1060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764792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1865376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Finalize SRS and scope | 1 day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297680" y="176479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77840" y="176479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176479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38160" y="176479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18320" y="176479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70832" y="1847088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AFC7DF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70832" y="1874520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157984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" y="2258568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Create Gantt chart and wireframes | 2 days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297680" y="215798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215798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215798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215798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18320" y="215798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70832" y="2240280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70832" y="2267712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Charles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2551176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" y="2651760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Set up shared repo and app architecture | 1 day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297680" y="255117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77840" y="255117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255117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38160" y="255117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418320" y="255117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50992" y="2633472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AFC7DF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50992" y="2660904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2944368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" y="3044952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Account login and secure authentication | 2 days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4297680" y="294436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577840" y="294436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58000" y="294436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138160" y="294436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418320" y="294436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650992" y="3026664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50992" y="3054096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Eraka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2920" y="3337560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12648" y="3438144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Movie search and metadata API | 3 days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4297680" y="333756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577840" y="333756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58000" y="333756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38160" y="333756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418320" y="333756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650992" y="3419856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50992" y="3447288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Charles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920" y="3730752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2648" y="3831336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Movie details and streaming availability | 3 days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4297680" y="373075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577840" y="373075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858000" y="373075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138160" y="373075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8320" y="373075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931152" y="3813048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931152" y="3840480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02920" y="4123944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12648" y="4224528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Watchlist, favorites, ratings | 2 days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4297680" y="412394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577840" y="412394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858000" y="412394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138160" y="412394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418320" y="4123944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931152" y="4206240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31152" y="4233672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Charles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02920" y="4517136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12648" y="4617720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Subscription and payment workflow | 3 days</a:t>
            </a:r>
            <a:endParaRPr lang="en-US" sz="1020" dirty="0"/>
          </a:p>
        </p:txBody>
      </p:sp>
      <p:sp>
        <p:nvSpPr>
          <p:cNvPr id="81" name="Shape 79"/>
          <p:cNvSpPr/>
          <p:nvPr/>
        </p:nvSpPr>
        <p:spPr>
          <a:xfrm>
            <a:off x="4297680" y="451713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577840" y="451713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858000" y="451713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138160" y="451713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418320" y="4517136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11312" y="4599432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AFC7DF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211312" y="4626864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Eraka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2920" y="4910328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12648" y="5010912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Accessibility, security, error handling | 2 days</a:t>
            </a:r>
            <a:endParaRPr lang="en-US" sz="1020" dirty="0"/>
          </a:p>
        </p:txBody>
      </p:sp>
      <p:sp>
        <p:nvSpPr>
          <p:cNvPr id="90" name="Shape 88"/>
          <p:cNvSpPr/>
          <p:nvPr/>
        </p:nvSpPr>
        <p:spPr>
          <a:xfrm>
            <a:off x="4297680" y="491032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577840" y="491032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858000" y="491032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138160" y="491032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418320" y="4910328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211312" y="4992624"/>
            <a:ext cx="2414016" cy="228600"/>
          </a:xfrm>
          <a:prstGeom prst="roundRect">
            <a:avLst>
              <a:gd name="adj" fmla="val 16000"/>
            </a:avLst>
          </a:prstGeom>
          <a:solidFill>
            <a:srgbClr val="DCE9F5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211312" y="5020056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02920" y="5303520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12648" y="5404104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Integration and usability testing | 3 days</a:t>
            </a:r>
            <a:endParaRPr lang="en-US" sz="1020" dirty="0"/>
          </a:p>
        </p:txBody>
      </p:sp>
      <p:sp>
        <p:nvSpPr>
          <p:cNvPr id="99" name="Shape 97"/>
          <p:cNvSpPr/>
          <p:nvPr/>
        </p:nvSpPr>
        <p:spPr>
          <a:xfrm>
            <a:off x="4297680" y="530352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577840" y="530352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858000" y="530352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138160" y="530352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418320" y="5303520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9FAFB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491472" y="5385816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AFC7DF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491472" y="5413248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02920" y="5696712"/>
            <a:ext cx="37947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12648" y="5797296"/>
            <a:ext cx="35753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D2939"/>
                </a:solidFill>
              </a:rPr>
              <a:t>Final status report and presentation | 2 days</a:t>
            </a:r>
            <a:endParaRPr lang="en-US" sz="1020" dirty="0"/>
          </a:p>
        </p:txBody>
      </p:sp>
      <p:sp>
        <p:nvSpPr>
          <p:cNvPr id="108" name="Shape 106"/>
          <p:cNvSpPr/>
          <p:nvPr/>
        </p:nvSpPr>
        <p:spPr>
          <a:xfrm>
            <a:off x="4297680" y="569671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577840" y="569671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858000" y="569671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138160" y="569671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9418320" y="5696712"/>
            <a:ext cx="12801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9491472" y="5779008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AFC7DF"/>
          </a:solidFill>
          <a:ln w="889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9491472" y="5806440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Both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640080" y="601675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Key dependency: streaming availability depends on movie search and metadata. Payment work can run alongside watchlist development. Testing follows feature integration.</a:t>
            </a:r>
            <a:endParaRPr lang="en-US" sz="1050" dirty="0"/>
          </a:p>
        </p:txBody>
      </p:sp>
      <p:sp>
        <p:nvSpPr>
          <p:cNvPr id="1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Flow and Navigation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The flow keeps the main task simple: search for a movie, see where it is available, then watch or save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554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2020824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Home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Search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2286000"/>
            <a:ext cx="457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14600" y="1920240"/>
            <a:ext cx="16002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4328" y="2020824"/>
            <a:ext cx="13807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2286000"/>
            <a:ext cx="457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81728" y="2020824"/>
            <a:ext cx="1426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Movie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Details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457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920240"/>
            <a:ext cx="1828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84848" y="2020824"/>
            <a:ext cx="16093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Streaming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Options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457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0" y="192024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70848" y="202082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Open Provider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or Stream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2651760"/>
            <a:ext cx="0" cy="59436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3246120"/>
            <a:ext cx="1737360" cy="713232"/>
          </a:xfrm>
          <a:prstGeom prst="roundRect">
            <a:avLst>
              <a:gd name="adj" fmla="val 5128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36008" y="3346704"/>
            <a:ext cx="1517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Add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Watchlist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651760"/>
            <a:ext cx="0" cy="59436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3246120"/>
            <a:ext cx="1737360" cy="713232"/>
          </a:xfrm>
          <a:prstGeom prst="roundRect">
            <a:avLst>
              <a:gd name="adj" fmla="val 5128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0568" y="3346704"/>
            <a:ext cx="1517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Compare Rent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Buy Options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2651760"/>
            <a:ext cx="0" cy="59436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98280" y="3246120"/>
            <a:ext cx="1737360" cy="713232"/>
          </a:xfrm>
          <a:prstGeom prst="roundRect">
            <a:avLst>
              <a:gd name="adj" fmla="val 5128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08008" y="3346704"/>
            <a:ext cx="1517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Sign In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2939"/>
                </a:solidFill>
              </a:rPr>
              <a:t>Subscribe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48056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47000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Primary navigation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06040" y="4617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79192" y="46817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Home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33672" y="4617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06824" y="46817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Search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61304" y="4617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34456" y="46817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Watchlist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88936" y="4617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62088" y="46817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16568" y="46177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89720" y="468172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Account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5779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Wireframes stay low fidelity on purpose. They show structure, element placement, hierarchy, and movement between screens without locking the team into final colors or branding.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1: Home and Movie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Low-fidelity desktop layout for the main discovery workflow.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530352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STREAMLIST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51790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467"/>
                </a:solidFill>
              </a:rPr>
              <a:t>Home   Search   Watchlist   Account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617720" cy="576072"/>
          </a:xfrm>
          <a:prstGeom prst="roundRect">
            <a:avLst>
              <a:gd name="adj" fmla="val 6349"/>
            </a:avLst>
          </a:prstGeom>
          <a:solidFill>
            <a:srgbClr val="FAFAFA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12264"/>
            <a:ext cx="43982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8A2B3"/>
                </a:solidFill>
              </a:rPr>
              <a:t>Search movie, actor, director, or genre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2084832"/>
            <a:ext cx="658368" cy="420624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91456" y="2185416"/>
            <a:ext cx="438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2939"/>
                </a:solidFill>
              </a:rPr>
              <a:t>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Popular this week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182112"/>
            <a:ext cx="1280160" cy="150876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3272" y="3310128"/>
            <a:ext cx="1042416" cy="777240"/>
          </a:xfrm>
          <a:prstGeom prst="roundRect">
            <a:avLst>
              <a:gd name="adj" fmla="val 4706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410712"/>
            <a:ext cx="822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MOVIE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POSTER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422452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2939"/>
                </a:solidFill>
              </a:rPr>
              <a:t>Movie title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24128" y="44439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467"/>
                </a:solidFill>
              </a:rPr>
              <a:t>Genre • Year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3182112"/>
            <a:ext cx="1280160" cy="150876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42032" y="3310128"/>
            <a:ext cx="1042416" cy="777240"/>
          </a:xfrm>
          <a:prstGeom prst="roundRect">
            <a:avLst>
              <a:gd name="adj" fmla="val 4706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3410712"/>
            <a:ext cx="822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MOVIE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POSTER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422452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2939"/>
                </a:solidFill>
              </a:rPr>
              <a:t>Movie title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32888" y="44439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467"/>
                </a:solidFill>
              </a:rPr>
              <a:t>Genre • Year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0" y="3182112"/>
            <a:ext cx="1280160" cy="150876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50792" y="3310128"/>
            <a:ext cx="1042416" cy="777240"/>
          </a:xfrm>
          <a:prstGeom prst="roundRect">
            <a:avLst>
              <a:gd name="adj" fmla="val 4706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60520" y="3410712"/>
            <a:ext cx="822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MOVIE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</a:rPr>
              <a:t>POSTER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41648" y="422452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2939"/>
                </a:solidFill>
              </a:rPr>
              <a:t>Movie title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41648" y="44439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467"/>
                </a:solidFill>
              </a:rPr>
              <a:t>Genre • Year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2688" y="5138928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" y="5202936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Home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56232" y="5138928"/>
            <a:ext cx="896112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29384" y="52029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Search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62072" y="513892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35224" y="520293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Watchlist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513892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50792" y="520293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Account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39"/>
                </a:solidFill>
              </a:rPr>
              <a:t>What this screen supports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46520" y="2057400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• One search field is the main action.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2670048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• Users can search by title, actor, director, genre, year, or keyword.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3282696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• Movie cards show enough detail to choose the next step without clutter.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46520" y="3895344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• Persistent navigation gives fast access to saved movies and account tools.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46520" y="4507992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• The layout can collapse to one column on mobile devices.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534924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</a:rPr>
              <a:t>Design reference: Springboard recommends mapping user flow first, then sketching the layout, hierarchy, buttons, navigation, and static elements before visual polish.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2: Movie Details and Streaming Options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This screen answers the user’s main question: Where can I watch this movie?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56235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STREAMLIST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975104"/>
            <a:ext cx="1481328" cy="2057400"/>
          </a:xfrm>
          <a:prstGeom prst="roundRect">
            <a:avLst>
              <a:gd name="adj" fmla="val 2469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075688"/>
            <a:ext cx="1261872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467"/>
                </a:solidFill>
              </a:rPr>
              <a:t>POSTER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9933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39"/>
                </a:solidFill>
              </a:rPr>
              <a:t>Movie Title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51760" y="2441448"/>
            <a:ext cx="29718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2026 • PG-13 • 2h 8m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Genre | Director | Key cast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467"/>
                </a:solidFill>
              </a:rPr>
              <a:t>Short movie description goes 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51760" y="361188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61488" y="3712464"/>
            <a:ext cx="1014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939"/>
                </a:solidFill>
              </a:rPr>
              <a:t>+ WATCHLIST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3611880"/>
            <a:ext cx="1234440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33088" y="3712464"/>
            <a:ext cx="1014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939"/>
                </a:solidFill>
              </a:rPr>
              <a:t>★ FAVORITE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Where to watch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3108960" cy="27432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4128" y="4855464"/>
            <a:ext cx="288950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Provider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4809744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75467"/>
                </a:solidFill>
              </a:rPr>
              <a:t>Included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24528" y="4754880"/>
            <a:ext cx="96012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34256" y="4855464"/>
            <a:ext cx="7406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2939"/>
                </a:solidFill>
              </a:rPr>
              <a:t>OPEN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5093208"/>
            <a:ext cx="3108960" cy="27432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" y="5193792"/>
            <a:ext cx="288950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Provider 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54680" y="51480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75467"/>
                </a:solidFill>
              </a:rPr>
              <a:t>$3.99 rent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24528" y="5093208"/>
            <a:ext cx="96012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34256" y="5193792"/>
            <a:ext cx="7406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2939"/>
                </a:solidFill>
              </a:rPr>
              <a:t>OPEN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5431536"/>
            <a:ext cx="3108960" cy="27432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4128" y="5532120"/>
            <a:ext cx="288950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Provider 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54680" y="548640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75467"/>
                </a:solidFill>
              </a:rPr>
              <a:t>$9.99 buy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24528" y="5431536"/>
            <a:ext cx="96012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34256" y="5532120"/>
            <a:ext cx="7406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2939"/>
                </a:solidFill>
              </a:rPr>
              <a:t>OPEN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2940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39"/>
                </a:solidFill>
              </a:rPr>
              <a:t>Functional behavior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2084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Availability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18120" y="20848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75467"/>
                </a:solidFill>
              </a:rPr>
              <a:t>Show supported subscription, rental, purchase, and free options.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6629400" y="27432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Provider action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818120" y="2743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75467"/>
                </a:solidFill>
              </a:rPr>
              <a:t>Open the approved provider or use direct playback only when authorized.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6629400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Price comparison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18120" y="34015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75467"/>
                </a:solidFill>
              </a:rPr>
              <a:t>Let users compare rent and purchase options before leaving StreamList.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6629400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Watchlist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818120" y="40599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75467"/>
                </a:solidFill>
              </a:rPr>
              <a:t>Save the title so the user can return later or receive an availability alert.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6629400" y="47183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Fallback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818120" y="47183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75467"/>
                </a:solidFill>
              </a:rPr>
              <a:t>If provider data fails, show a clear unavailable message instead of stale results.</a:t>
            </a:r>
            <a:endParaRPr lang="en-US" sz="11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93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 3 and Design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467"/>
                </a:solidFill>
              </a:rPr>
              <a:t>The final screens support retention, subscriptions, privacy, and user control.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743200" cy="438912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9"/>
                </a:solidFill>
              </a:rPr>
              <a:t>WATCHLIST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286000" cy="438912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203704"/>
            <a:ext cx="2066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8A2B3"/>
                </a:solidFill>
              </a:rPr>
              <a:t>Search saved movies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2724912"/>
            <a:ext cx="411480" cy="438912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2825496"/>
            <a:ext cx="192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467"/>
                </a:solidFill>
              </a:rPr>
              <a:t>POSTER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444752" y="27614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Movie title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Provider • Status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706624" y="2807208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16352" y="2907792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939"/>
                </a:solidFill>
              </a:rPr>
              <a:t>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310128"/>
            <a:ext cx="411480" cy="438912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3410712"/>
            <a:ext cx="192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467"/>
                </a:solidFill>
              </a:rPr>
              <a:t>POSTER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444752" y="33467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Movie title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Provider • Status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706624" y="3392424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6352" y="3493008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939"/>
                </a:solidFill>
              </a:rPr>
              <a:t>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895344"/>
            <a:ext cx="411480" cy="438912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4128" y="3995928"/>
            <a:ext cx="192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467"/>
                </a:solidFill>
              </a:rPr>
              <a:t>POSTER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444752" y="39319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Movie title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Provider • Status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2706624" y="3977640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16352" y="4078224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939"/>
                </a:solidFill>
              </a:rPr>
              <a:t>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480560"/>
            <a:ext cx="411480" cy="438912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4128" y="4581144"/>
            <a:ext cx="192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467"/>
                </a:solidFill>
              </a:rPr>
              <a:t>POSTER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444752" y="45171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Movie title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D2939"/>
                </a:solidFill>
              </a:rPr>
              <a:t>Provider • Status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706624" y="4562856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16352" y="4663440"/>
            <a:ext cx="1280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2939"/>
                </a:solidFill>
              </a:rPr>
              <a:t>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5230368"/>
            <a:ext cx="612648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" y="5294376"/>
            <a:ext cx="466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Home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18488" y="523036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91640" y="529437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Search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68296" y="523036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41448" y="529437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</a:rPr>
              <a:t>Saved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4760" y="1371600"/>
            <a:ext cx="2743200" cy="438912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24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6908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9"/>
                </a:solidFill>
              </a:rPr>
              <a:t>ACCOUNT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87368" y="2084832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97096" y="2185416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Profile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087368" y="2523744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97096" y="2624328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Subscription plan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87368" y="2962656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97096" y="3063240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Payment method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87368" y="340156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97096" y="3502152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Connected services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87368" y="384048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97096" y="3941064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87368" y="4279392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97096" y="4379976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Privacy &amp; security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087368" y="4718304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397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97096" y="4818888"/>
            <a:ext cx="1929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2939"/>
                </a:solidFill>
              </a:rPr>
              <a:t>Sign out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60520" y="5257800"/>
            <a:ext cx="1993392" cy="347472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3970">
            <a:solidFill>
              <a:srgbClr val="98A2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70248" y="5358384"/>
            <a:ext cx="17739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2939"/>
                </a:solidFill>
              </a:rPr>
              <a:t>MANAGE SUBSCRIPTION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9516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39"/>
                </a:solidFill>
              </a:rPr>
              <a:t>How the design supports the project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995160" y="20116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Clear roadmap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302752" y="20116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75467"/>
                </a:solidFill>
              </a:rPr>
              <a:t>The Gantt chart sequences work, shows dependencies, and identifies tasks that can run together.</a:t>
            </a:r>
            <a:endParaRPr lang="en-US" sz="1110" dirty="0"/>
          </a:p>
        </p:txBody>
      </p:sp>
      <p:sp>
        <p:nvSpPr>
          <p:cNvPr id="55" name="Text 53"/>
          <p:cNvSpPr/>
          <p:nvPr/>
        </p:nvSpPr>
        <p:spPr>
          <a:xfrm>
            <a:off x="6995160" y="27249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Focused wireframes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302752" y="2724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75467"/>
                </a:solidFill>
              </a:rPr>
              <a:t>Each screen has one main purpose and shows element placement before coding begins.</a:t>
            </a:r>
            <a:endParaRPr lang="en-US" sz="1110" dirty="0"/>
          </a:p>
        </p:txBody>
      </p:sp>
      <p:sp>
        <p:nvSpPr>
          <p:cNvPr id="57" name="Text 55"/>
          <p:cNvSpPr/>
          <p:nvPr/>
        </p:nvSpPr>
        <p:spPr>
          <a:xfrm>
            <a:off x="6995160" y="34381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Scalable structure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302752" y="34381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75467"/>
                </a:solidFill>
              </a:rPr>
              <a:t>Search, streaming availability, watchlists, subscriptions, and account features can grow as separate modules.</a:t>
            </a:r>
            <a:endParaRPr lang="en-US" sz="1110" dirty="0"/>
          </a:p>
        </p:txBody>
      </p:sp>
      <p:sp>
        <p:nvSpPr>
          <p:cNvPr id="59" name="Text 57"/>
          <p:cNvSpPr/>
          <p:nvPr/>
        </p:nvSpPr>
        <p:spPr>
          <a:xfrm>
            <a:off x="6995160" y="41513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Security first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302752" y="415137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75467"/>
                </a:solidFill>
              </a:rPr>
              <a:t>Authentication, payment handling, privacy controls, and testing are planned before final release.</a:t>
            </a:r>
            <a:endParaRPr lang="en-US" sz="1110" dirty="0"/>
          </a:p>
        </p:txBody>
      </p:sp>
      <p:sp>
        <p:nvSpPr>
          <p:cNvPr id="61" name="Text 59"/>
          <p:cNvSpPr/>
          <p:nvPr/>
        </p:nvSpPr>
        <p:spPr>
          <a:xfrm>
            <a:off x="6995160" y="48646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</a:rPr>
              <a:t>Next step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302752" y="486460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75467"/>
                </a:solidFill>
              </a:rPr>
              <a:t>Review the wireframes with the team, revise them, then implement the approved flow in React.</a:t>
            </a:r>
            <a:endParaRPr lang="en-US" sz="1110" dirty="0"/>
          </a:p>
        </p:txBody>
      </p:sp>
      <p:sp>
        <p:nvSpPr>
          <p:cNvPr id="63" name="Text 61"/>
          <p:cNvSpPr/>
          <p:nvPr/>
        </p:nvSpPr>
        <p:spPr>
          <a:xfrm>
            <a:off x="6995160" y="56144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2939"/>
                </a:solidFill>
              </a:rPr>
              <a:t>GitHub: </a:t>
            </a:r>
            <a:r>
              <a:rPr lang="en-US" sz="1050" b="1" dirty="0">
                <a:solidFill>
                  <a:srgbClr val="1D2939"/>
                </a:solidFill>
                <a:hlinkClick r:id="rId3"/>
              </a:rPr>
              <a:t>https://github.com/charlestrayesjr/streamlist</a:t>
            </a:r>
            <a:endParaRPr lang="en-US" sz="1050" b="1" dirty="0">
              <a:solidFill>
                <a:srgbClr val="1D2939"/>
              </a:solidFill>
            </a:endParaRPr>
          </a:p>
          <a:p>
            <a:r>
              <a:rPr lang="en-US" sz="1050" b="1" dirty="0">
                <a:solidFill>
                  <a:srgbClr val="1D2939"/>
                </a:solidFill>
              </a:rPr>
              <a:t>GitHub: </a:t>
            </a:r>
            <a:r>
              <a:rPr lang="en-US" sz="1050" b="1" dirty="0">
                <a:solidFill>
                  <a:srgbClr val="1D2939"/>
                </a:solidFill>
                <a:hlinkClick r:id="rId4"/>
              </a:rPr>
              <a:t>https://github.com/erakarussell/streamlist</a:t>
            </a:r>
            <a:r>
              <a:rPr lang="en-US" sz="1050" b="1" dirty="0">
                <a:solidFill>
                  <a:srgbClr val="1D2939"/>
                </a:solidFill>
              </a:rPr>
              <a:t> 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802</Words>
  <Application>Microsoft Office PowerPoint</Application>
  <PresentationFormat>Widescreen</PresentationFormat>
  <Paragraphs>184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Arizona Global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EZTechMovie StreamList Gantt Chart and Wireframes</dc:title>
  <dc:subject>EZTechMovie StreamList Week 2 Program Design</dc:subject>
  <dc:creator>Charles Trayes Jr. and Eraka Russell</dc:creator>
  <cp:lastModifiedBy>Charles Trayes</cp:lastModifiedBy>
  <cp:revision>2</cp:revision>
  <dcterms:created xsi:type="dcterms:W3CDTF">2026-08-16T21:25:34Z</dcterms:created>
  <dcterms:modified xsi:type="dcterms:W3CDTF">2026-08-17T00:30:46Z</dcterms:modified>
</cp:coreProperties>
</file>